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01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Ultrasound Sales Growth</a:t>
            </a:r>
            <a:endParaRPr lang="zh-CN" sz="1300"/>
          </a:p>
        </p:txBody>
      </p:sp>
      <p:sp>
        <p:nvSpPr>
          <p:cNvPr id="6" name="Hero Title"/>
          <p:cNvSpPr txBox="1"/>
          <p:nvPr/>
        </p:nvSpPr>
        <p:spPr>
          <a:xfrm>
            <a:off x="1234440" y="150876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42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智能销售接待与客户洞察 Agent</a:t>
            </a:r>
            <a:endParaRPr lang="zh-CN" sz="4200"/>
          </a:p>
        </p:txBody>
      </p:sp>
      <p:sp>
        <p:nvSpPr>
          <p:cNvPr id="7" name="Hero Subtitle"/>
          <p:cNvSpPr txBox="1"/>
          <p:nvPr/>
        </p:nvSpPr>
        <p:spPr>
          <a:xfrm>
            <a:off x="1234440" y="2880360"/>
            <a:ext cx="9966960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4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把每月 300+ 条 ultrasound 询盘，从分散消息变成可跟进、可反馈、可分析、可再营销的客户资产。</a:t>
            </a:r>
            <a:endParaRPr lang="zh-CN" sz="2400"/>
          </a:p>
        </p:txBody>
      </p:sp>
      <p:sp>
        <p:nvSpPr>
          <p:cNvPr id="8" name="Tag"/>
          <p:cNvSpPr txBox="1"/>
          <p:nvPr/>
        </p:nvSpPr>
        <p:spPr>
          <a:xfrm>
            <a:off x="1234440" y="4709160"/>
            <a:ext cx="1417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  <p:txBody>
          <a:bodyPr wrap="square" lIns="54864" tIns="36576" rIns="54864" bIns="36576">
            <a:normAutofit/>
          </a:bodyPr>
          <a:lstStyle/>
          <a:p>
            <a:pPr algn="ctr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AI 接待</a:t>
            </a:r>
            <a:endParaRPr lang="zh-CN" sz="1300"/>
          </a:p>
        </p:txBody>
      </p:sp>
      <p:sp>
        <p:nvSpPr>
          <p:cNvPr id="9" name="Tag"/>
          <p:cNvSpPr txBox="1"/>
          <p:nvPr/>
        </p:nvSpPr>
        <p:spPr>
          <a:xfrm>
            <a:off x="2971800" y="4709160"/>
            <a:ext cx="1417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  <p:txBody>
          <a:bodyPr wrap="square" lIns="54864" tIns="36576" rIns="54864" bIns="36576">
            <a:normAutofit/>
          </a:bodyPr>
          <a:lstStyle/>
          <a:p>
            <a:pPr algn="ctr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客户画像</a:t>
            </a:r>
            <a:endParaRPr lang="zh-CN" sz="1300"/>
          </a:p>
        </p:txBody>
      </p:sp>
      <p:sp>
        <p:nvSpPr>
          <p:cNvPr id="10" name="Tag"/>
          <p:cNvSpPr txBox="1"/>
          <p:nvPr/>
        </p:nvSpPr>
        <p:spPr>
          <a:xfrm>
            <a:off x="4709160" y="4709160"/>
            <a:ext cx="1417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  <p:txBody>
          <a:bodyPr wrap="square" lIns="54864" tIns="36576" rIns="54864" bIns="36576">
            <a:normAutofit/>
          </a:bodyPr>
          <a:lstStyle/>
          <a:p>
            <a:pPr algn="ctr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国家分发</a:t>
            </a:r>
            <a:endParaRPr lang="zh-CN" sz="1300"/>
          </a:p>
        </p:txBody>
      </p:sp>
      <p:sp>
        <p:nvSpPr>
          <p:cNvPr id="11" name="Tag"/>
          <p:cNvSpPr txBox="1"/>
          <p:nvPr/>
        </p:nvSpPr>
        <p:spPr>
          <a:xfrm>
            <a:off x="6446520" y="4709160"/>
            <a:ext cx="1417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  <p:txBody>
          <a:bodyPr wrap="square" lIns="54864" tIns="36576" rIns="54864" bIns="36576">
            <a:normAutofit/>
          </a:bodyPr>
          <a:lstStyle/>
          <a:p>
            <a:pPr algn="ctr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轻量反馈</a:t>
            </a:r>
            <a:endParaRPr lang="zh-CN" sz="1300"/>
          </a:p>
        </p:txBody>
      </p:sp>
      <p:sp>
        <p:nvSpPr>
          <p:cNvPr id="12" name="Tag"/>
          <p:cNvSpPr txBox="1"/>
          <p:nvPr/>
        </p:nvSpPr>
        <p:spPr>
          <a:xfrm>
            <a:off x="8183880" y="4709160"/>
            <a:ext cx="1417320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  <p:txBody>
          <a:bodyPr wrap="square" lIns="54864" tIns="36576" rIns="54864" bIns="36576">
            <a:normAutofit/>
          </a:bodyPr>
          <a:lstStyle/>
          <a:p>
            <a:pPr algn="ctr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经营报表</a:t>
            </a:r>
            <a:endParaRPr lang="zh-C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02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Executive Summary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第一版不是重 CRM，而是询盘闭环 MVP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Label"/>
          <p:cNvSpPr txBox="1"/>
          <p:nvPr/>
        </p:nvSpPr>
        <p:spPr>
          <a:xfrm>
            <a:off x="822960" y="2039112"/>
            <a:ext cx="3127248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5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先收口</a:t>
            </a:r>
            <a:endParaRPr lang="zh-CN" sz="1050"/>
          </a:p>
        </p:txBody>
      </p:sp>
      <p:sp>
        <p:nvSpPr>
          <p:cNvPr id="10" name="Card Title"/>
          <p:cNvSpPr txBox="1"/>
          <p:nvPr/>
        </p:nvSpPr>
        <p:spPr>
          <a:xfrm>
            <a:off x="822960" y="233172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统一线索池</a:t>
            </a:r>
            <a:endParaRPr lang="zh-CN" sz="1450"/>
          </a:p>
        </p:txBody>
      </p:sp>
      <p:sp>
        <p:nvSpPr>
          <p:cNvPr id="11" name="Card Body"/>
          <p:cNvSpPr txBox="1"/>
          <p:nvPr/>
        </p:nvSpPr>
        <p:spPr>
          <a:xfrm>
            <a:off x="822960" y="2743200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官网聊天、官网后台、邮箱、展会名片先进入同一套线索对象。</a:t>
            </a:r>
            <a:endParaRPr lang="zh-CN" sz="1080"/>
          </a:p>
        </p:txBody>
      </p:sp>
      <p:sp>
        <p:nvSpPr>
          <p:cNvPr id="12" name="Card"/>
          <p:cNvSpPr/>
          <p:nvPr/>
        </p:nvSpPr>
        <p:spPr>
          <a:xfrm>
            <a:off x="4370832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3" name="Card Accent"/>
          <p:cNvSpPr/>
          <p:nvPr/>
        </p:nvSpPr>
        <p:spPr>
          <a:xfrm>
            <a:off x="4370832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4" name="Label"/>
          <p:cNvSpPr txBox="1"/>
          <p:nvPr/>
        </p:nvSpPr>
        <p:spPr>
          <a:xfrm>
            <a:off x="4535424" y="2039112"/>
            <a:ext cx="3127248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5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再问清</a:t>
            </a:r>
            <a:endParaRPr lang="zh-CN" sz="1050"/>
          </a:p>
        </p:txBody>
      </p:sp>
      <p:sp>
        <p:nvSpPr>
          <p:cNvPr id="15" name="Card Title"/>
          <p:cNvSpPr txBox="1"/>
          <p:nvPr/>
        </p:nvSpPr>
        <p:spPr>
          <a:xfrm>
            <a:off x="4535424" y="233172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AI 接待引导</a:t>
            </a:r>
            <a:endParaRPr lang="zh-CN" sz="1450"/>
          </a:p>
        </p:txBody>
      </p:sp>
      <p:sp>
        <p:nvSpPr>
          <p:cNvPr id="16" name="Card Body"/>
          <p:cNvSpPr txBox="1"/>
          <p:nvPr/>
        </p:nvSpPr>
        <p:spPr>
          <a:xfrm>
            <a:off x="4535424" y="2743200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补齐身份、国家、应用、产品类型和具体需求。</a:t>
            </a:r>
            <a:endParaRPr lang="zh-CN" sz="1080"/>
          </a:p>
        </p:txBody>
      </p:sp>
      <p:sp>
        <p:nvSpPr>
          <p:cNvPr id="17" name="Card"/>
          <p:cNvSpPr/>
          <p:nvPr/>
        </p:nvSpPr>
        <p:spPr>
          <a:xfrm>
            <a:off x="8083296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8" name="Card Accent"/>
          <p:cNvSpPr/>
          <p:nvPr/>
        </p:nvSpPr>
        <p:spPr>
          <a:xfrm>
            <a:off x="8083296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9" name="Label"/>
          <p:cNvSpPr txBox="1"/>
          <p:nvPr/>
        </p:nvSpPr>
        <p:spPr>
          <a:xfrm>
            <a:off x="8247888" y="2039112"/>
            <a:ext cx="3127248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5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最后闭环</a:t>
            </a:r>
            <a:endParaRPr lang="zh-CN" sz="1050"/>
          </a:p>
        </p:txBody>
      </p:sp>
      <p:sp>
        <p:nvSpPr>
          <p:cNvPr id="20" name="Card Title"/>
          <p:cNvSpPr txBox="1"/>
          <p:nvPr/>
        </p:nvSpPr>
        <p:spPr>
          <a:xfrm>
            <a:off x="8247888" y="233172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分发与反馈</a:t>
            </a:r>
            <a:endParaRPr lang="zh-CN" sz="1450"/>
          </a:p>
        </p:txBody>
      </p:sp>
      <p:sp>
        <p:nvSpPr>
          <p:cNvPr id="21" name="Card Body"/>
          <p:cNvSpPr txBox="1"/>
          <p:nvPr/>
        </p:nvSpPr>
        <p:spPr>
          <a:xfrm>
            <a:off x="8247888" y="2743200"/>
            <a:ext cx="3127248" cy="89611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按国家/区域分给销售，销售用轻量卡片反馈，结果进报表。</a:t>
            </a:r>
            <a:endParaRPr lang="zh-CN" sz="10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03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Pain Scenario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不是没询盘，是询盘链路在漏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874520"/>
            <a:ext cx="2528316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874520"/>
            <a:ext cx="45720" cy="150876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Metric"/>
          <p:cNvSpPr txBox="1"/>
          <p:nvPr/>
        </p:nvSpPr>
        <p:spPr>
          <a:xfrm>
            <a:off x="822960" y="2039112"/>
            <a:ext cx="2199132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8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300+</a:t>
            </a:r>
            <a:endParaRPr lang="zh-CN" sz="2800"/>
          </a:p>
        </p:txBody>
      </p:sp>
      <p:sp>
        <p:nvSpPr>
          <p:cNvPr id="10" name="Card Body"/>
          <p:cNvSpPr txBox="1"/>
          <p:nvPr/>
        </p:nvSpPr>
        <p:spPr>
          <a:xfrm>
            <a:off x="822960" y="2569464"/>
            <a:ext cx="2199132" cy="70408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每月询盘量，来源：用户确认</a:t>
            </a:r>
            <a:endParaRPr lang="zh-CN" sz="1080"/>
          </a:p>
        </p:txBody>
      </p:sp>
      <p:sp>
        <p:nvSpPr>
          <p:cNvPr id="11" name="Card"/>
          <p:cNvSpPr/>
          <p:nvPr/>
        </p:nvSpPr>
        <p:spPr>
          <a:xfrm>
            <a:off x="3442716" y="1874520"/>
            <a:ext cx="2528316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Card Accent"/>
          <p:cNvSpPr/>
          <p:nvPr/>
        </p:nvSpPr>
        <p:spPr>
          <a:xfrm>
            <a:off x="3442716" y="1874520"/>
            <a:ext cx="45720" cy="150876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3" name="Metric"/>
          <p:cNvSpPr txBox="1"/>
          <p:nvPr/>
        </p:nvSpPr>
        <p:spPr>
          <a:xfrm>
            <a:off x="3607308" y="2039112"/>
            <a:ext cx="2199132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8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10</a:t>
            </a:r>
            <a:endParaRPr lang="zh-CN" sz="2800"/>
          </a:p>
        </p:txBody>
      </p:sp>
      <p:sp>
        <p:nvSpPr>
          <p:cNvPr id="14" name="Card Body"/>
          <p:cNvSpPr txBox="1"/>
          <p:nvPr/>
        </p:nvSpPr>
        <p:spPr>
          <a:xfrm>
            <a:off x="3607308" y="2569464"/>
            <a:ext cx="2199132" cy="70408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分钟/条人工处理，来源：用户确认</a:t>
            </a:r>
            <a:endParaRPr lang="zh-CN" sz="1080"/>
          </a:p>
        </p:txBody>
      </p:sp>
      <p:sp>
        <p:nvSpPr>
          <p:cNvPr id="15" name="Card"/>
          <p:cNvSpPr/>
          <p:nvPr/>
        </p:nvSpPr>
        <p:spPr>
          <a:xfrm>
            <a:off x="6227064" y="1874520"/>
            <a:ext cx="2528316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Card Accent"/>
          <p:cNvSpPr/>
          <p:nvPr/>
        </p:nvSpPr>
        <p:spPr>
          <a:xfrm>
            <a:off x="6227064" y="1874520"/>
            <a:ext cx="45720" cy="150876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7" name="Metric"/>
          <p:cNvSpPr txBox="1"/>
          <p:nvPr/>
        </p:nvSpPr>
        <p:spPr>
          <a:xfrm>
            <a:off x="6391656" y="2039112"/>
            <a:ext cx="2199132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8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20-30%</a:t>
            </a:r>
            <a:endParaRPr lang="zh-CN" sz="2800"/>
          </a:p>
        </p:txBody>
      </p:sp>
      <p:sp>
        <p:nvSpPr>
          <p:cNvPr id="18" name="Card Body"/>
          <p:cNvSpPr txBox="1"/>
          <p:nvPr/>
        </p:nvSpPr>
        <p:spPr>
          <a:xfrm>
            <a:off x="6391656" y="2569464"/>
            <a:ext cx="2199132" cy="70408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客户损失，来源：用户确认</a:t>
            </a:r>
            <a:endParaRPr lang="zh-CN" sz="1080"/>
          </a:p>
        </p:txBody>
      </p:sp>
      <p:sp>
        <p:nvSpPr>
          <p:cNvPr id="19" name="Card"/>
          <p:cNvSpPr/>
          <p:nvPr/>
        </p:nvSpPr>
        <p:spPr>
          <a:xfrm>
            <a:off x="9011412" y="1874520"/>
            <a:ext cx="2528316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0" name="Card Accent"/>
          <p:cNvSpPr/>
          <p:nvPr/>
        </p:nvSpPr>
        <p:spPr>
          <a:xfrm>
            <a:off x="9011412" y="1874520"/>
            <a:ext cx="45720" cy="150876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21" name="Metric"/>
          <p:cNvSpPr txBox="1"/>
          <p:nvPr/>
        </p:nvSpPr>
        <p:spPr>
          <a:xfrm>
            <a:off x="9176004" y="2039112"/>
            <a:ext cx="2199132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8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50%+</a:t>
            </a:r>
            <a:endParaRPr lang="zh-CN" sz="2800"/>
          </a:p>
        </p:txBody>
      </p:sp>
      <p:sp>
        <p:nvSpPr>
          <p:cNvPr id="22" name="Card Body"/>
          <p:cNvSpPr txBox="1"/>
          <p:nvPr/>
        </p:nvSpPr>
        <p:spPr>
          <a:xfrm>
            <a:off x="9176004" y="2569464"/>
            <a:ext cx="2199132" cy="70408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销售无反馈，来源：用户确认</a:t>
            </a:r>
            <a:endParaRPr lang="zh-CN" sz="1080"/>
          </a:p>
        </p:txBody>
      </p:sp>
      <p:sp>
        <p:nvSpPr>
          <p:cNvPr id="23" name="Subtitle"/>
          <p:cNvSpPr txBox="1"/>
          <p:nvPr/>
        </p:nvSpPr>
        <p:spPr>
          <a:xfrm>
            <a:off x="658368" y="3822192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9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询盘分散、回复慢、背景查得累、销售反馈断，最后变成管理者看不清的黑箱。</a:t>
            </a:r>
            <a:endParaRPr lang="zh-CN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04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Value Proof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价值不在“自动回复”，而在修复销售漏斗</a:t>
            </a:r>
            <a:endParaRPr lang="zh-CN" sz="3000"/>
          </a:p>
        </p:txBody>
      </p:sp>
      <p:sp>
        <p:nvSpPr>
          <p:cNvPr id="7" name="Value Text"/>
          <p:cNvSpPr txBox="1"/>
          <p:nvPr/>
        </p:nvSpPr>
        <p:spPr>
          <a:xfrm>
            <a:off x="749808" y="1874520"/>
            <a:ext cx="4983480" cy="7772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8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这套系统瞄准的是当前 20%-30% 的客户流失和 50%+ 的销售反馈黑洞。</a:t>
            </a:r>
            <a:endParaRPr lang="zh-CN" sz="1800"/>
          </a:p>
        </p:txBody>
      </p:sp>
      <p:sp>
        <p:nvSpPr>
          <p:cNvPr id="8" name="Value Subtitle"/>
          <p:cNvSpPr txBox="1"/>
          <p:nvPr/>
        </p:nvSpPr>
        <p:spPr>
          <a:xfrm>
            <a:off x="749808" y="2880360"/>
            <a:ext cx="5166360" cy="11430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20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每月 300+ 条询盘如果不能及时接待、分发、反馈，就不是“消息没整理”，而是客户资产没有被经营。</a:t>
            </a:r>
            <a:endParaRPr 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05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Product Loop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询盘闭环：从消息到客户资产</a:t>
            </a:r>
            <a:endParaRPr lang="zh-CN" sz="3000"/>
          </a:p>
        </p:txBody>
      </p:sp>
      <p:sp>
        <p:nvSpPr>
          <p:cNvPr id="7" name="Step"/>
          <p:cNvSpPr/>
          <p:nvPr/>
        </p:nvSpPr>
        <p:spPr>
          <a:xfrm>
            <a:off x="658368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Step Accent"/>
          <p:cNvSpPr/>
          <p:nvPr/>
        </p:nvSpPr>
        <p:spPr>
          <a:xfrm>
            <a:off x="658368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Step Title"/>
          <p:cNvSpPr txBox="1"/>
          <p:nvPr/>
        </p:nvSpPr>
        <p:spPr>
          <a:xfrm>
            <a:off x="768096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收口</a:t>
            </a:r>
            <a:endParaRPr lang="zh-CN" sz="1300"/>
          </a:p>
        </p:txBody>
      </p:sp>
      <p:sp>
        <p:nvSpPr>
          <p:cNvPr id="10" name="Step Text"/>
          <p:cNvSpPr txBox="1"/>
          <p:nvPr/>
        </p:nvSpPr>
        <p:spPr>
          <a:xfrm>
            <a:off x="768096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官网、邮箱、后台、展会名片进入线索池</a:t>
            </a:r>
            <a:endParaRPr lang="zh-CN" sz="1019"/>
          </a:p>
        </p:txBody>
      </p:sp>
      <p:sp>
        <p:nvSpPr>
          <p:cNvPr id="11" name="Step"/>
          <p:cNvSpPr/>
          <p:nvPr/>
        </p:nvSpPr>
        <p:spPr>
          <a:xfrm>
            <a:off x="2496312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Step Accent"/>
          <p:cNvSpPr/>
          <p:nvPr/>
        </p:nvSpPr>
        <p:spPr>
          <a:xfrm>
            <a:off x="2496312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3" name="Step Title"/>
          <p:cNvSpPr txBox="1"/>
          <p:nvPr/>
        </p:nvSpPr>
        <p:spPr>
          <a:xfrm>
            <a:off x="2606040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接待</a:t>
            </a:r>
            <a:endParaRPr lang="zh-CN" sz="1300"/>
          </a:p>
        </p:txBody>
      </p:sp>
      <p:sp>
        <p:nvSpPr>
          <p:cNvPr id="14" name="Step Text"/>
          <p:cNvSpPr txBox="1"/>
          <p:nvPr/>
        </p:nvSpPr>
        <p:spPr>
          <a:xfrm>
            <a:off x="2606040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AI 即时回应并补齐关键字段</a:t>
            </a:r>
            <a:endParaRPr lang="zh-CN" sz="1019"/>
          </a:p>
        </p:txBody>
      </p:sp>
      <p:sp>
        <p:nvSpPr>
          <p:cNvPr id="15" name="Step"/>
          <p:cNvSpPr/>
          <p:nvPr/>
        </p:nvSpPr>
        <p:spPr>
          <a:xfrm>
            <a:off x="4334256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Step Accent"/>
          <p:cNvSpPr/>
          <p:nvPr/>
        </p:nvSpPr>
        <p:spPr>
          <a:xfrm>
            <a:off x="4334256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7" name="Step Title"/>
          <p:cNvSpPr txBox="1"/>
          <p:nvPr/>
        </p:nvSpPr>
        <p:spPr>
          <a:xfrm>
            <a:off x="4443984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画像</a:t>
            </a:r>
            <a:endParaRPr lang="zh-CN" sz="1300"/>
          </a:p>
        </p:txBody>
      </p:sp>
      <p:sp>
        <p:nvSpPr>
          <p:cNvPr id="18" name="Step Text"/>
          <p:cNvSpPr txBox="1"/>
          <p:nvPr/>
        </p:nvSpPr>
        <p:spPr>
          <a:xfrm>
            <a:off x="4443984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识别代理商或医生/终端用户</a:t>
            </a:r>
            <a:endParaRPr lang="zh-CN" sz="1019"/>
          </a:p>
        </p:txBody>
      </p:sp>
      <p:sp>
        <p:nvSpPr>
          <p:cNvPr id="19" name="Step"/>
          <p:cNvSpPr/>
          <p:nvPr/>
        </p:nvSpPr>
        <p:spPr>
          <a:xfrm>
            <a:off x="6172200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0" name="Step Accent"/>
          <p:cNvSpPr/>
          <p:nvPr/>
        </p:nvSpPr>
        <p:spPr>
          <a:xfrm>
            <a:off x="6172200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21" name="Step Title"/>
          <p:cNvSpPr txBox="1"/>
          <p:nvPr/>
        </p:nvSpPr>
        <p:spPr>
          <a:xfrm>
            <a:off x="6281928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评分</a:t>
            </a:r>
            <a:endParaRPr lang="zh-CN" sz="1300"/>
          </a:p>
        </p:txBody>
      </p:sp>
      <p:sp>
        <p:nvSpPr>
          <p:cNvPr id="22" name="Step Text"/>
          <p:cNvSpPr txBox="1"/>
          <p:nvPr/>
        </p:nvSpPr>
        <p:spPr>
          <a:xfrm>
            <a:off x="6281928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身份、应用、需求决定有效性</a:t>
            </a:r>
            <a:endParaRPr lang="zh-CN" sz="1019"/>
          </a:p>
        </p:txBody>
      </p:sp>
      <p:sp>
        <p:nvSpPr>
          <p:cNvPr id="23" name="Step"/>
          <p:cNvSpPr/>
          <p:nvPr/>
        </p:nvSpPr>
        <p:spPr>
          <a:xfrm>
            <a:off x="8010144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4" name="Step Accent"/>
          <p:cNvSpPr/>
          <p:nvPr/>
        </p:nvSpPr>
        <p:spPr>
          <a:xfrm>
            <a:off x="8010144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25" name="Step Title"/>
          <p:cNvSpPr txBox="1"/>
          <p:nvPr/>
        </p:nvSpPr>
        <p:spPr>
          <a:xfrm>
            <a:off x="8119872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分发</a:t>
            </a:r>
            <a:endParaRPr lang="zh-CN" sz="1300"/>
          </a:p>
        </p:txBody>
      </p:sp>
      <p:sp>
        <p:nvSpPr>
          <p:cNvPr id="26" name="Step Text"/>
          <p:cNvSpPr txBox="1"/>
          <p:nvPr/>
        </p:nvSpPr>
        <p:spPr>
          <a:xfrm>
            <a:off x="8119872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按国家/区域匹配销售</a:t>
            </a:r>
            <a:endParaRPr lang="zh-CN" sz="1019"/>
          </a:p>
        </p:txBody>
      </p:sp>
      <p:sp>
        <p:nvSpPr>
          <p:cNvPr id="27" name="Step"/>
          <p:cNvSpPr/>
          <p:nvPr/>
        </p:nvSpPr>
        <p:spPr>
          <a:xfrm>
            <a:off x="9848088" y="2240280"/>
            <a:ext cx="1691640" cy="1737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8" name="Step Accent"/>
          <p:cNvSpPr/>
          <p:nvPr/>
        </p:nvSpPr>
        <p:spPr>
          <a:xfrm>
            <a:off x="9848088" y="2240280"/>
            <a:ext cx="1691640" cy="54864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29" name="Step Title"/>
          <p:cNvSpPr txBox="1"/>
          <p:nvPr/>
        </p:nvSpPr>
        <p:spPr>
          <a:xfrm>
            <a:off x="9957816" y="2423160"/>
            <a:ext cx="1472184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反馈</a:t>
            </a:r>
            <a:endParaRPr lang="zh-CN" sz="1300"/>
          </a:p>
        </p:txBody>
      </p:sp>
      <p:sp>
        <p:nvSpPr>
          <p:cNvPr id="30" name="Step Text"/>
          <p:cNvSpPr txBox="1"/>
          <p:nvPr/>
        </p:nvSpPr>
        <p:spPr>
          <a:xfrm>
            <a:off x="9957816" y="2880360"/>
            <a:ext cx="1472184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19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销售轻量反馈进入报表和客户池</a:t>
            </a:r>
            <a:endParaRPr lang="zh-CN" sz="101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06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Customer Profile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双客群画像：代理商和医生不能用同一套问题</a:t>
            </a:r>
            <a:endParaRPr lang="zh-CN" sz="3000"/>
          </a:p>
        </p:txBody>
      </p:sp>
      <p:sp>
        <p:nvSpPr>
          <p:cNvPr id="7" name="Table Cell"/>
          <p:cNvSpPr/>
          <p:nvPr/>
        </p:nvSpPr>
        <p:spPr>
          <a:xfrm>
            <a:off x="566928" y="1536192"/>
            <a:ext cx="2057400" cy="502920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8" name="Table Text"/>
          <p:cNvSpPr txBox="1"/>
          <p:nvPr/>
        </p:nvSpPr>
        <p:spPr>
          <a:xfrm>
            <a:off x="621792" y="1572768"/>
            <a:ext cx="1947672" cy="42976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22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客户类型</a:t>
            </a:r>
            <a:endParaRPr lang="zh-CN" sz="1220"/>
          </a:p>
        </p:txBody>
      </p:sp>
      <p:sp>
        <p:nvSpPr>
          <p:cNvPr id="9" name="Table Cell"/>
          <p:cNvSpPr/>
          <p:nvPr/>
        </p:nvSpPr>
        <p:spPr>
          <a:xfrm>
            <a:off x="2624328" y="1536192"/>
            <a:ext cx="4069080" cy="502920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10" name="Table Text"/>
          <p:cNvSpPr txBox="1"/>
          <p:nvPr/>
        </p:nvSpPr>
        <p:spPr>
          <a:xfrm>
            <a:off x="2679192" y="1572768"/>
            <a:ext cx="3959352" cy="42976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22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重点信息</a:t>
            </a:r>
            <a:endParaRPr lang="zh-CN" sz="1220"/>
          </a:p>
        </p:txBody>
      </p:sp>
      <p:sp>
        <p:nvSpPr>
          <p:cNvPr id="11" name="Table Cell"/>
          <p:cNvSpPr/>
          <p:nvPr/>
        </p:nvSpPr>
        <p:spPr>
          <a:xfrm>
            <a:off x="6693408" y="1536192"/>
            <a:ext cx="4892040" cy="502920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12" name="Table Text"/>
          <p:cNvSpPr txBox="1"/>
          <p:nvPr/>
        </p:nvSpPr>
        <p:spPr>
          <a:xfrm>
            <a:off x="6748272" y="1572768"/>
            <a:ext cx="4782312" cy="42976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22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Agent 要问什么</a:t>
            </a:r>
            <a:endParaRPr lang="zh-CN" sz="1220"/>
          </a:p>
        </p:txBody>
      </p:sp>
      <p:sp>
        <p:nvSpPr>
          <p:cNvPr id="13" name="Table Cell"/>
          <p:cNvSpPr/>
          <p:nvPr/>
        </p:nvSpPr>
        <p:spPr>
          <a:xfrm>
            <a:off x="566928" y="2039112"/>
            <a:ext cx="2057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4" name="Table Text"/>
          <p:cNvSpPr txBox="1"/>
          <p:nvPr/>
        </p:nvSpPr>
        <p:spPr>
          <a:xfrm>
            <a:off x="621792" y="2075688"/>
            <a:ext cx="194767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代理商</a:t>
            </a:r>
            <a:endParaRPr lang="zh-CN" sz="1150"/>
          </a:p>
        </p:txBody>
      </p:sp>
      <p:sp>
        <p:nvSpPr>
          <p:cNvPr id="15" name="Table Cell"/>
          <p:cNvSpPr/>
          <p:nvPr/>
        </p:nvSpPr>
        <p:spPr>
          <a:xfrm>
            <a:off x="2624328" y="203911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Table Text"/>
          <p:cNvSpPr txBox="1"/>
          <p:nvPr/>
        </p:nvSpPr>
        <p:spPr>
          <a:xfrm>
            <a:off x="2679192" y="2075688"/>
            <a:ext cx="395935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国家、历史业务、代理品牌、超声经验、年业务规模</a:t>
            </a:r>
            <a:endParaRPr lang="zh-CN" sz="1150"/>
          </a:p>
        </p:txBody>
      </p:sp>
      <p:sp>
        <p:nvSpPr>
          <p:cNvPr id="17" name="Table Cell"/>
          <p:cNvSpPr/>
          <p:nvPr/>
        </p:nvSpPr>
        <p:spPr>
          <a:xfrm>
            <a:off x="6693408" y="2039112"/>
            <a:ext cx="4892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8" name="Table Text"/>
          <p:cNvSpPr txBox="1"/>
          <p:nvPr/>
        </p:nvSpPr>
        <p:spPr>
          <a:xfrm>
            <a:off x="6748272" y="2075688"/>
            <a:ext cx="478231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覆盖哪个市场？是否做过 ultrasound？代理过哪些品牌？</a:t>
            </a:r>
            <a:endParaRPr lang="zh-CN" sz="1150"/>
          </a:p>
        </p:txBody>
      </p:sp>
      <p:sp>
        <p:nvSpPr>
          <p:cNvPr id="19" name="Table Cell"/>
          <p:cNvSpPr/>
          <p:nvPr/>
        </p:nvSpPr>
        <p:spPr>
          <a:xfrm>
            <a:off x="566928" y="3182112"/>
            <a:ext cx="2057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0" name="Table Text"/>
          <p:cNvSpPr txBox="1"/>
          <p:nvPr/>
        </p:nvSpPr>
        <p:spPr>
          <a:xfrm>
            <a:off x="621792" y="3218688"/>
            <a:ext cx="194767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医生/终端用户</a:t>
            </a:r>
            <a:endParaRPr lang="zh-CN" sz="1150"/>
          </a:p>
        </p:txBody>
      </p:sp>
      <p:sp>
        <p:nvSpPr>
          <p:cNvPr id="21" name="Table Cell"/>
          <p:cNvSpPr/>
          <p:nvPr/>
        </p:nvSpPr>
        <p:spPr>
          <a:xfrm>
            <a:off x="2624328" y="318211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2" name="Table Text"/>
          <p:cNvSpPr txBox="1"/>
          <p:nvPr/>
        </p:nvSpPr>
        <p:spPr>
          <a:xfrm>
            <a:off x="2679192" y="3218688"/>
            <a:ext cx="395935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科室、临床应用、用过的机器、预算、产品场景</a:t>
            </a:r>
            <a:endParaRPr lang="zh-CN" sz="1150"/>
          </a:p>
        </p:txBody>
      </p:sp>
      <p:sp>
        <p:nvSpPr>
          <p:cNvPr id="23" name="Table Cell"/>
          <p:cNvSpPr/>
          <p:nvPr/>
        </p:nvSpPr>
        <p:spPr>
          <a:xfrm>
            <a:off x="6693408" y="3182112"/>
            <a:ext cx="4892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4" name="Table Text"/>
          <p:cNvSpPr txBox="1"/>
          <p:nvPr/>
        </p:nvSpPr>
        <p:spPr>
          <a:xfrm>
            <a:off x="6748272" y="3218688"/>
            <a:ext cx="4782312" cy="10698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15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用于什么科室？之前用什么机器？需要 trolley、portable 还是 handheld？</a:t>
            </a:r>
            <a:endParaRPr lang="zh-CN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07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Feedback &amp; Reporting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销售不填 CRM，只做 10-30 秒轻反馈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874520"/>
            <a:ext cx="5312664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Card Title"/>
          <p:cNvSpPr txBox="1"/>
          <p:nvPr/>
        </p:nvSpPr>
        <p:spPr>
          <a:xfrm>
            <a:off x="822960" y="20391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销售反馈</a:t>
            </a:r>
            <a:endParaRPr lang="zh-CN" sz="1450"/>
          </a:p>
        </p:txBody>
      </p:sp>
      <p:sp>
        <p:nvSpPr>
          <p:cNvPr id="10" name="Card Body"/>
          <p:cNvSpPr txBox="1"/>
          <p:nvPr/>
        </p:nvSpPr>
        <p:spPr>
          <a:xfrm>
            <a:off x="822960" y="2450592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状态：已联系、已报价、无效、需跟进、已成交。客户判断：有效、资料库、真实需求、已转代理商。备注可选。</a:t>
            </a:r>
            <a:endParaRPr lang="zh-CN" sz="1080"/>
          </a:p>
        </p:txBody>
      </p:sp>
      <p:sp>
        <p:nvSpPr>
          <p:cNvPr id="11" name="Card"/>
          <p:cNvSpPr/>
          <p:nvPr/>
        </p:nvSpPr>
        <p:spPr>
          <a:xfrm>
            <a:off x="6227064" y="1874520"/>
            <a:ext cx="5312664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Card Accent"/>
          <p:cNvSpPr/>
          <p:nvPr/>
        </p:nvSpPr>
        <p:spPr>
          <a:xfrm>
            <a:off x="6227064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3" name="Card Title"/>
          <p:cNvSpPr txBox="1"/>
          <p:nvPr/>
        </p:nvSpPr>
        <p:spPr>
          <a:xfrm>
            <a:off x="6391656" y="20391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管理报表</a:t>
            </a:r>
            <a:endParaRPr lang="zh-CN" sz="1450"/>
          </a:p>
        </p:txBody>
      </p:sp>
      <p:sp>
        <p:nvSpPr>
          <p:cNvPr id="14" name="Card Body"/>
          <p:cNvSpPr txBox="1"/>
          <p:nvPr/>
        </p:nvSpPr>
        <p:spPr>
          <a:xfrm>
            <a:off x="6391656" y="2450592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询盘总量、有效数量、国家分布、渠道质量、客户类型占比、产品分类、销售反馈、未及时反馈、撤单、客户池变化。</a:t>
            </a:r>
            <a:endParaRPr lang="zh-CN" sz="1080"/>
          </a:p>
        </p:txBody>
      </p:sp>
      <p:sp>
        <p:nvSpPr>
          <p:cNvPr id="15" name="Feedback Bar Background"/>
          <p:cNvSpPr/>
          <p:nvPr/>
        </p:nvSpPr>
        <p:spPr>
          <a:xfrm>
            <a:off x="658368" y="4251960"/>
            <a:ext cx="8046720" cy="228600"/>
          </a:xfrm>
          <a:prstGeom prst="roundRect">
            <a:avLst/>
          </a:prstGeom>
          <a:solidFill>
            <a:srgbClr val="E7EDF4"/>
          </a:solidFill>
          <a:ln>
            <a:noFill/>
          </a:ln>
        </p:spPr>
      </p:sp>
      <p:sp>
        <p:nvSpPr>
          <p:cNvPr id="16" name="Feedback Bar"/>
          <p:cNvSpPr/>
          <p:nvPr/>
        </p:nvSpPr>
        <p:spPr>
          <a:xfrm>
            <a:off x="658368" y="4251960"/>
            <a:ext cx="4023360" cy="228600"/>
          </a:xfrm>
          <a:prstGeom prst="round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7" name="Feedback Note"/>
          <p:cNvSpPr txBox="1"/>
          <p:nvPr/>
        </p:nvSpPr>
        <p:spPr>
          <a:xfrm>
            <a:off x="658368" y="4562856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2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当前 50%+ 销售无反馈，MVP 首先要让反馈闭环跑起来。</a:t>
            </a:r>
            <a:endParaRPr 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08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Technical Approach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模块边界清楚，第一版避免被集成拖死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Card Title"/>
          <p:cNvSpPr txBox="1"/>
          <p:nvPr/>
        </p:nvSpPr>
        <p:spPr>
          <a:xfrm>
            <a:off x="822960" y="203911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核心模块</a:t>
            </a:r>
            <a:endParaRPr lang="zh-CN" sz="1450"/>
          </a:p>
        </p:txBody>
      </p:sp>
      <p:sp>
        <p:nvSpPr>
          <p:cNvPr id="10" name="Card Body"/>
          <p:cNvSpPr txBox="1"/>
          <p:nvPr/>
        </p:nvSpPr>
        <p:spPr>
          <a:xfrm>
            <a:off x="822960" y="2450592"/>
            <a:ext cx="3127248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渠道接入、AI 接待、画像评分、国家路由、反馈卡片、报表、客户池。</a:t>
            </a:r>
            <a:endParaRPr lang="zh-CN" sz="1080"/>
          </a:p>
        </p:txBody>
      </p:sp>
      <p:sp>
        <p:nvSpPr>
          <p:cNvPr id="11" name="Card"/>
          <p:cNvSpPr/>
          <p:nvPr/>
        </p:nvSpPr>
        <p:spPr>
          <a:xfrm>
            <a:off x="4370832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Card Accent"/>
          <p:cNvSpPr/>
          <p:nvPr/>
        </p:nvSpPr>
        <p:spPr>
          <a:xfrm>
            <a:off x="4370832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3" name="Card Title"/>
          <p:cNvSpPr txBox="1"/>
          <p:nvPr/>
        </p:nvSpPr>
        <p:spPr>
          <a:xfrm>
            <a:off x="4535424" y="203911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数据治理</a:t>
            </a:r>
            <a:endParaRPr lang="zh-CN" sz="1450"/>
          </a:p>
        </p:txBody>
      </p:sp>
      <p:sp>
        <p:nvSpPr>
          <p:cNvPr id="14" name="Card Body"/>
          <p:cNvSpPr txBox="1"/>
          <p:nvPr/>
        </p:nvSpPr>
        <p:spPr>
          <a:xfrm>
            <a:off x="4535424" y="2450592"/>
            <a:ext cx="3127248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来源留痕、权限控制、内部 UTC、敏感客户数据分级访问。</a:t>
            </a:r>
            <a:endParaRPr lang="zh-CN" sz="1080"/>
          </a:p>
        </p:txBody>
      </p:sp>
      <p:sp>
        <p:nvSpPr>
          <p:cNvPr id="15" name="Card"/>
          <p:cNvSpPr/>
          <p:nvPr/>
        </p:nvSpPr>
        <p:spPr>
          <a:xfrm>
            <a:off x="8083296" y="1874520"/>
            <a:ext cx="3456432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Card Accent"/>
          <p:cNvSpPr/>
          <p:nvPr/>
        </p:nvSpPr>
        <p:spPr>
          <a:xfrm>
            <a:off x="8083296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247888" y="2039112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合规边界</a:t>
            </a:r>
            <a:endParaRPr lang="zh-CN" sz="1450"/>
          </a:p>
        </p:txBody>
      </p:sp>
      <p:sp>
        <p:nvSpPr>
          <p:cNvPr id="18" name="Card Body"/>
          <p:cNvSpPr txBox="1"/>
          <p:nvPr/>
        </p:nvSpPr>
        <p:spPr>
          <a:xfrm>
            <a:off x="8247888" y="2450592"/>
            <a:ext cx="3127248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不做 Facebook/LinkedIn 未授权抓取；再营销必须人工确认。</a:t>
            </a:r>
            <a:endParaRPr lang="zh-CN" sz="108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09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Implementation Map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每一步用什么技术实现</a:t>
            </a:r>
            <a:endParaRPr lang="zh-CN" sz="3000"/>
          </a:p>
        </p:txBody>
      </p:sp>
      <p:sp>
        <p:nvSpPr>
          <p:cNvPr id="7" name="Table Cell"/>
          <p:cNvSpPr/>
          <p:nvPr/>
        </p:nvSpPr>
        <p:spPr>
          <a:xfrm>
            <a:off x="566928" y="1536192"/>
            <a:ext cx="2057400" cy="438912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8" name="Table Text"/>
          <p:cNvSpPr txBox="1"/>
          <p:nvPr/>
        </p:nvSpPr>
        <p:spPr>
          <a:xfrm>
            <a:off x="621792" y="1572768"/>
            <a:ext cx="1947672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4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业务步骤</a:t>
            </a:r>
            <a:endParaRPr lang="zh-CN" sz="1040"/>
          </a:p>
        </p:txBody>
      </p:sp>
      <p:sp>
        <p:nvSpPr>
          <p:cNvPr id="9" name="Table Cell"/>
          <p:cNvSpPr/>
          <p:nvPr/>
        </p:nvSpPr>
        <p:spPr>
          <a:xfrm>
            <a:off x="2624328" y="1536192"/>
            <a:ext cx="4617720" cy="438912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10" name="Table Text"/>
          <p:cNvSpPr txBox="1"/>
          <p:nvPr/>
        </p:nvSpPr>
        <p:spPr>
          <a:xfrm>
            <a:off x="2679192" y="1572768"/>
            <a:ext cx="4507992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4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推荐技术</a:t>
            </a:r>
            <a:endParaRPr lang="zh-CN" sz="1040"/>
          </a:p>
        </p:txBody>
      </p:sp>
      <p:sp>
        <p:nvSpPr>
          <p:cNvPr id="11" name="Table Cell"/>
          <p:cNvSpPr/>
          <p:nvPr/>
        </p:nvSpPr>
        <p:spPr>
          <a:xfrm>
            <a:off x="7242048" y="1536192"/>
            <a:ext cx="4343400" cy="438912"/>
          </a:xfrm>
          <a:prstGeom prst="rect">
            <a:avLst/>
          </a:prstGeom>
          <a:solidFill>
            <a:srgbClr val="EAF2F7"/>
          </a:solidFill>
          <a:ln w="9525">
            <a:solidFill>
              <a:srgbClr val="D7DFEB"/>
            </a:solidFill>
          </a:ln>
        </p:spPr>
      </p:sp>
      <p:sp>
        <p:nvSpPr>
          <p:cNvPr id="12" name="Table Text"/>
          <p:cNvSpPr txBox="1"/>
          <p:nvPr/>
        </p:nvSpPr>
        <p:spPr>
          <a:xfrm>
            <a:off x="7296912" y="1572768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40" b="1" dirty="0">
                <a:solidFill>
                  <a:srgbClr val="224E7A"/>
                </a:solidFill>
                <a:latin typeface="Microsoft YaHei"/>
                <a:ea typeface="Microsoft YaHei"/>
                <a:cs typeface="Arial"/>
              </a:rPr>
              <a:t>技术放在哪里</a:t>
            </a:r>
            <a:endParaRPr lang="zh-CN" sz="1040"/>
          </a:p>
        </p:txBody>
      </p:sp>
      <p:sp>
        <p:nvSpPr>
          <p:cNvPr id="13" name="Table Cell"/>
          <p:cNvSpPr/>
          <p:nvPr/>
        </p:nvSpPr>
        <p:spPr>
          <a:xfrm>
            <a:off x="566928" y="1975104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4" name="Table Text"/>
          <p:cNvSpPr txBox="1"/>
          <p:nvPr/>
        </p:nvSpPr>
        <p:spPr>
          <a:xfrm>
            <a:off x="621792" y="2011680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线索进入</a:t>
            </a:r>
            <a:endParaRPr lang="zh-CN" sz="940"/>
          </a:p>
        </p:txBody>
      </p:sp>
      <p:sp>
        <p:nvSpPr>
          <p:cNvPr id="15" name="Table Cell"/>
          <p:cNvSpPr/>
          <p:nvPr/>
        </p:nvSpPr>
        <p:spPr>
          <a:xfrm>
            <a:off x="2624328" y="1975104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Table Text"/>
          <p:cNvSpPr txBox="1"/>
          <p:nvPr/>
        </p:nvSpPr>
        <p:spPr>
          <a:xfrm>
            <a:off x="2679192" y="2011680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官网聊天 Webhook/API、邮箱 IMAP 或 Graph/Gmail API、CSV/Excel、名片 OCR</a:t>
            </a:r>
            <a:endParaRPr lang="zh-CN" sz="940"/>
          </a:p>
        </p:txBody>
      </p:sp>
      <p:sp>
        <p:nvSpPr>
          <p:cNvPr id="17" name="Table Cell"/>
          <p:cNvSpPr/>
          <p:nvPr/>
        </p:nvSpPr>
        <p:spPr>
          <a:xfrm>
            <a:off x="7242048" y="1975104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8" name="Table Text"/>
          <p:cNvSpPr txBox="1"/>
          <p:nvPr/>
        </p:nvSpPr>
        <p:spPr>
          <a:xfrm>
            <a:off x="7296912" y="2011680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渠道接入适配层</a:t>
            </a:r>
            <a:endParaRPr lang="zh-CN" sz="940"/>
          </a:p>
        </p:txBody>
      </p:sp>
      <p:sp>
        <p:nvSpPr>
          <p:cNvPr id="19" name="Table Cell"/>
          <p:cNvSpPr/>
          <p:nvPr/>
        </p:nvSpPr>
        <p:spPr>
          <a:xfrm>
            <a:off x="566928" y="2587752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0" name="Table Text"/>
          <p:cNvSpPr txBox="1"/>
          <p:nvPr/>
        </p:nvSpPr>
        <p:spPr>
          <a:xfrm>
            <a:off x="621792" y="2624328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AI 接待</a:t>
            </a:r>
            <a:endParaRPr lang="zh-CN" sz="940"/>
          </a:p>
        </p:txBody>
      </p:sp>
      <p:sp>
        <p:nvSpPr>
          <p:cNvPr id="21" name="Table Cell"/>
          <p:cNvSpPr/>
          <p:nvPr/>
        </p:nvSpPr>
        <p:spPr>
          <a:xfrm>
            <a:off x="2624328" y="2587752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2" name="Table Text"/>
          <p:cNvSpPr txBox="1"/>
          <p:nvPr/>
        </p:nvSpPr>
        <p:spPr>
          <a:xfrm>
            <a:off x="2679192" y="2624328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LLM 对话编排、规则引擎、产品知识库检索、结构化字段抽取</a:t>
            </a:r>
            <a:endParaRPr lang="zh-CN" sz="940"/>
          </a:p>
        </p:txBody>
      </p:sp>
      <p:sp>
        <p:nvSpPr>
          <p:cNvPr id="23" name="Table Cell"/>
          <p:cNvSpPr/>
          <p:nvPr/>
        </p:nvSpPr>
        <p:spPr>
          <a:xfrm>
            <a:off x="7242048" y="2587752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4" name="Table Text"/>
          <p:cNvSpPr txBox="1"/>
          <p:nvPr/>
        </p:nvSpPr>
        <p:spPr>
          <a:xfrm>
            <a:off x="7296912" y="2624328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AI 接待服务和知识库</a:t>
            </a:r>
            <a:endParaRPr lang="zh-CN" sz="940"/>
          </a:p>
        </p:txBody>
      </p:sp>
      <p:sp>
        <p:nvSpPr>
          <p:cNvPr id="25" name="Table Cell"/>
          <p:cNvSpPr/>
          <p:nvPr/>
        </p:nvSpPr>
        <p:spPr>
          <a:xfrm>
            <a:off x="566928" y="3200400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6" name="Table Text"/>
          <p:cNvSpPr txBox="1"/>
          <p:nvPr/>
        </p:nvSpPr>
        <p:spPr>
          <a:xfrm>
            <a:off x="621792" y="3236976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画像评分</a:t>
            </a:r>
            <a:endParaRPr lang="zh-CN" sz="940"/>
          </a:p>
        </p:txBody>
      </p:sp>
      <p:sp>
        <p:nvSpPr>
          <p:cNvPr id="27" name="Table Cell"/>
          <p:cNvSpPr/>
          <p:nvPr/>
        </p:nvSpPr>
        <p:spPr>
          <a:xfrm>
            <a:off x="2624328" y="3200400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28" name="Table Text"/>
          <p:cNvSpPr txBox="1"/>
          <p:nvPr/>
        </p:nvSpPr>
        <p:spPr>
          <a:xfrm>
            <a:off x="2679192" y="3236976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LLM 抽取、规则评分、公开/授权数据源、人工修正记录</a:t>
            </a:r>
            <a:endParaRPr lang="zh-CN" sz="940"/>
          </a:p>
        </p:txBody>
      </p:sp>
      <p:sp>
        <p:nvSpPr>
          <p:cNvPr id="29" name="Table Cell"/>
          <p:cNvSpPr/>
          <p:nvPr/>
        </p:nvSpPr>
        <p:spPr>
          <a:xfrm>
            <a:off x="7242048" y="3200400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30" name="Table Text"/>
          <p:cNvSpPr txBox="1"/>
          <p:nvPr/>
        </p:nvSpPr>
        <p:spPr>
          <a:xfrm>
            <a:off x="7296912" y="3236976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画像评分服务</a:t>
            </a:r>
            <a:endParaRPr lang="zh-CN" sz="940"/>
          </a:p>
        </p:txBody>
      </p:sp>
      <p:sp>
        <p:nvSpPr>
          <p:cNvPr id="31" name="Table Cell"/>
          <p:cNvSpPr/>
          <p:nvPr/>
        </p:nvSpPr>
        <p:spPr>
          <a:xfrm>
            <a:off x="566928" y="3813048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32" name="Table Text"/>
          <p:cNvSpPr txBox="1"/>
          <p:nvPr/>
        </p:nvSpPr>
        <p:spPr>
          <a:xfrm>
            <a:off x="621792" y="3849624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国家分发</a:t>
            </a:r>
            <a:endParaRPr lang="zh-CN" sz="940"/>
          </a:p>
        </p:txBody>
      </p:sp>
      <p:sp>
        <p:nvSpPr>
          <p:cNvPr id="33" name="Table Cell"/>
          <p:cNvSpPr/>
          <p:nvPr/>
        </p:nvSpPr>
        <p:spPr>
          <a:xfrm>
            <a:off x="2624328" y="3813048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34" name="Table Text"/>
          <p:cNvSpPr txBox="1"/>
          <p:nvPr/>
        </p:nvSpPr>
        <p:spPr>
          <a:xfrm>
            <a:off x="2679192" y="3849624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Postgres 国家/区域/销售映射表、确定性路由、异常待分配队列</a:t>
            </a:r>
            <a:endParaRPr lang="zh-CN" sz="940"/>
          </a:p>
        </p:txBody>
      </p:sp>
      <p:sp>
        <p:nvSpPr>
          <p:cNvPr id="35" name="Table Cell"/>
          <p:cNvSpPr/>
          <p:nvPr/>
        </p:nvSpPr>
        <p:spPr>
          <a:xfrm>
            <a:off x="7242048" y="3813048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36" name="Table Text"/>
          <p:cNvSpPr txBox="1"/>
          <p:nvPr/>
        </p:nvSpPr>
        <p:spPr>
          <a:xfrm>
            <a:off x="7296912" y="3849624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路由模块和配置后台</a:t>
            </a:r>
            <a:endParaRPr lang="zh-CN" sz="940"/>
          </a:p>
        </p:txBody>
      </p:sp>
      <p:sp>
        <p:nvSpPr>
          <p:cNvPr id="37" name="Table Cell"/>
          <p:cNvSpPr/>
          <p:nvPr/>
        </p:nvSpPr>
        <p:spPr>
          <a:xfrm>
            <a:off x="566928" y="4425696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38" name="Table Text"/>
          <p:cNvSpPr txBox="1"/>
          <p:nvPr/>
        </p:nvSpPr>
        <p:spPr>
          <a:xfrm>
            <a:off x="621792" y="4462272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销售反馈</a:t>
            </a:r>
            <a:endParaRPr lang="zh-CN" sz="940"/>
          </a:p>
        </p:txBody>
      </p:sp>
      <p:sp>
        <p:nvSpPr>
          <p:cNvPr id="39" name="Table Cell"/>
          <p:cNvSpPr/>
          <p:nvPr/>
        </p:nvSpPr>
        <p:spPr>
          <a:xfrm>
            <a:off x="2624328" y="4425696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40" name="Table Text"/>
          <p:cNvSpPr txBox="1"/>
          <p:nvPr/>
        </p:nvSpPr>
        <p:spPr>
          <a:xfrm>
            <a:off x="2679192" y="4462272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移动端 H5 卡片、带过期时间的安全链接、邮件/微信入口</a:t>
            </a:r>
            <a:endParaRPr lang="zh-CN" sz="940"/>
          </a:p>
        </p:txBody>
      </p:sp>
      <p:sp>
        <p:nvSpPr>
          <p:cNvPr id="41" name="Table Cell"/>
          <p:cNvSpPr/>
          <p:nvPr/>
        </p:nvSpPr>
        <p:spPr>
          <a:xfrm>
            <a:off x="7242048" y="4425696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42" name="Table Text"/>
          <p:cNvSpPr txBox="1"/>
          <p:nvPr/>
        </p:nvSpPr>
        <p:spPr>
          <a:xfrm>
            <a:off x="7296912" y="4462272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反馈服务和权限校验层</a:t>
            </a:r>
            <a:endParaRPr lang="zh-CN" sz="940"/>
          </a:p>
        </p:txBody>
      </p:sp>
      <p:sp>
        <p:nvSpPr>
          <p:cNvPr id="43" name="Table Cell"/>
          <p:cNvSpPr/>
          <p:nvPr/>
        </p:nvSpPr>
        <p:spPr>
          <a:xfrm>
            <a:off x="566928" y="5038344"/>
            <a:ext cx="2057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44" name="Table Text"/>
          <p:cNvSpPr txBox="1"/>
          <p:nvPr/>
        </p:nvSpPr>
        <p:spPr>
          <a:xfrm>
            <a:off x="621792" y="5074920"/>
            <a:ext cx="1947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日报和再营销</a:t>
            </a:r>
            <a:endParaRPr lang="zh-CN" sz="940"/>
          </a:p>
        </p:txBody>
      </p:sp>
      <p:sp>
        <p:nvSpPr>
          <p:cNvPr id="45" name="Table Cell"/>
          <p:cNvSpPr/>
          <p:nvPr/>
        </p:nvSpPr>
        <p:spPr>
          <a:xfrm>
            <a:off x="2624328" y="5038344"/>
            <a:ext cx="461772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46" name="Table Text"/>
          <p:cNvSpPr txBox="1"/>
          <p:nvPr/>
        </p:nvSpPr>
        <p:spPr>
          <a:xfrm>
            <a:off x="2679192" y="5074920"/>
            <a:ext cx="450799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定时任务、报表聚合 SQL、任务队列、邮件模板、人工审批流</a:t>
            </a:r>
            <a:endParaRPr lang="zh-CN" sz="940"/>
          </a:p>
        </p:txBody>
      </p:sp>
      <p:sp>
        <p:nvSpPr>
          <p:cNvPr id="47" name="Table Cell"/>
          <p:cNvSpPr/>
          <p:nvPr/>
        </p:nvSpPr>
        <p:spPr>
          <a:xfrm>
            <a:off x="7242048" y="5038344"/>
            <a:ext cx="4343400" cy="61264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48" name="Table Text"/>
          <p:cNvSpPr txBox="1"/>
          <p:nvPr/>
        </p:nvSpPr>
        <p:spPr>
          <a:xfrm>
            <a:off x="7296912" y="5074920"/>
            <a:ext cx="4233672" cy="53949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940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后台任务、报表、客户池和再营销模块</a:t>
            </a:r>
            <a:endParaRPr lang="zh-CN" sz="9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10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Roadmap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阶段路线图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920240"/>
            <a:ext cx="34137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920240"/>
            <a:ext cx="45720" cy="224028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Card Title"/>
          <p:cNvSpPr txBox="1"/>
          <p:nvPr/>
        </p:nvSpPr>
        <p:spPr>
          <a:xfrm>
            <a:off x="822960" y="2084832"/>
            <a:ext cx="3084576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阶段一 MVP</a:t>
            </a:r>
            <a:endParaRPr lang="zh-CN" sz="1450"/>
          </a:p>
        </p:txBody>
      </p:sp>
      <p:sp>
        <p:nvSpPr>
          <p:cNvPr id="10" name="Card Body"/>
          <p:cNvSpPr txBox="1"/>
          <p:nvPr/>
        </p:nvSpPr>
        <p:spPr>
          <a:xfrm>
            <a:off x="822960" y="2496312"/>
            <a:ext cx="3084576" cy="1554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统一线索池、AI 接待、画像评分、国家分发、销售轻反馈、基础报表。</a:t>
            </a:r>
            <a:endParaRPr lang="zh-CN" sz="1080"/>
          </a:p>
        </p:txBody>
      </p:sp>
      <p:sp>
        <p:nvSpPr>
          <p:cNvPr id="11" name="Card"/>
          <p:cNvSpPr/>
          <p:nvPr/>
        </p:nvSpPr>
        <p:spPr>
          <a:xfrm>
            <a:off x="4392168" y="1920240"/>
            <a:ext cx="34137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Card Accent"/>
          <p:cNvSpPr/>
          <p:nvPr/>
        </p:nvSpPr>
        <p:spPr>
          <a:xfrm>
            <a:off x="4392168" y="1920240"/>
            <a:ext cx="45720" cy="2240280"/>
          </a:xfrm>
          <a:prstGeom prst="rect">
            <a:avLst/>
          </a:prstGeom>
          <a:solidFill>
            <a:srgbClr val="B45F2A"/>
          </a:solidFill>
          <a:ln>
            <a:noFill/>
          </a:ln>
        </p:spPr>
      </p:sp>
      <p:sp>
        <p:nvSpPr>
          <p:cNvPr id="13" name="Card Title"/>
          <p:cNvSpPr txBox="1"/>
          <p:nvPr/>
        </p:nvSpPr>
        <p:spPr>
          <a:xfrm>
            <a:off x="4556760" y="2084832"/>
            <a:ext cx="3084576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阶段二增强</a:t>
            </a:r>
            <a:endParaRPr lang="zh-CN" sz="1450"/>
          </a:p>
        </p:txBody>
      </p:sp>
      <p:sp>
        <p:nvSpPr>
          <p:cNvPr id="14" name="Card Body"/>
          <p:cNvSpPr txBox="1"/>
          <p:nvPr/>
        </p:nvSpPr>
        <p:spPr>
          <a:xfrm>
            <a:off x="4556760" y="2496312"/>
            <a:ext cx="3084576" cy="1554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再营销草稿、客户态势信号、更多渠道接入、客户池运营。</a:t>
            </a:r>
            <a:endParaRPr lang="zh-CN" sz="1080"/>
          </a:p>
        </p:txBody>
      </p:sp>
      <p:sp>
        <p:nvSpPr>
          <p:cNvPr id="15" name="Card"/>
          <p:cNvSpPr/>
          <p:nvPr/>
        </p:nvSpPr>
        <p:spPr>
          <a:xfrm>
            <a:off x="8125968" y="1920240"/>
            <a:ext cx="341376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6" name="Card Accent"/>
          <p:cNvSpPr/>
          <p:nvPr/>
        </p:nvSpPr>
        <p:spPr>
          <a:xfrm>
            <a:off x="8125968" y="1920240"/>
            <a:ext cx="45720" cy="2240280"/>
          </a:xfrm>
          <a:prstGeom prst="rect">
            <a:avLst/>
          </a:prstGeom>
          <a:solidFill>
            <a:srgbClr val="2F7D5B"/>
          </a:solidFill>
          <a:ln>
            <a:noFill/>
          </a:ln>
        </p:spPr>
      </p:sp>
      <p:sp>
        <p:nvSpPr>
          <p:cNvPr id="17" name="Card Title"/>
          <p:cNvSpPr txBox="1"/>
          <p:nvPr/>
        </p:nvSpPr>
        <p:spPr>
          <a:xfrm>
            <a:off x="8290560" y="2084832"/>
            <a:ext cx="3084576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阶段三扩展</a:t>
            </a:r>
            <a:endParaRPr lang="zh-CN" sz="1450"/>
          </a:p>
        </p:txBody>
      </p:sp>
      <p:sp>
        <p:nvSpPr>
          <p:cNvPr id="18" name="Card Body"/>
          <p:cNvSpPr txBox="1"/>
          <p:nvPr/>
        </p:nvSpPr>
        <p:spPr>
          <a:xfrm>
            <a:off x="8290560" y="2496312"/>
            <a:ext cx="3084576" cy="15544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CRM 深度集成、企业微信集成、完整客户态势监督和商业数据源。</a:t>
            </a:r>
            <a:endParaRPr lang="zh-CN" sz="108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4" name="Slide Number"/>
          <p:cNvSpPr txBox="1"/>
          <p:nvPr/>
        </p:nvSpPr>
        <p:spPr>
          <a:xfrm>
            <a:off x="10515600" y="2011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r"/>
            <a:r>
              <a:rPr lang="zh-CN" sz="11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11 / 11</a:t>
            </a:r>
            <a:endParaRPr lang="zh-CN" sz="1100"/>
          </a:p>
        </p:txBody>
      </p:sp>
      <p:sp>
        <p:nvSpPr>
          <p:cNvPr id="5" name="Eyebrow"/>
          <p:cNvSpPr txBox="1"/>
          <p:nvPr/>
        </p:nvSpPr>
        <p:spPr>
          <a:xfrm>
            <a:off x="658368" y="3657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300" b="1" dirty="0">
                <a:solidFill>
                  <a:srgbClr val="0F7B8F"/>
                </a:solidFill>
                <a:latin typeface="Microsoft YaHei"/>
                <a:ea typeface="Microsoft YaHei"/>
                <a:cs typeface="Arial"/>
              </a:rPr>
              <a:t>MVP Scope</a:t>
            </a:r>
            <a:endParaRPr lang="zh-CN" sz="1300"/>
          </a:p>
        </p:txBody>
      </p:sp>
      <p:sp>
        <p:nvSpPr>
          <p:cNvPr id="6" name="Title"/>
          <p:cNvSpPr txBox="1"/>
          <p:nvPr/>
        </p:nvSpPr>
        <p:spPr>
          <a:xfrm>
            <a:off x="658368" y="713232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300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本次落地只做最短闭环</a:t>
            </a:r>
            <a:endParaRPr lang="zh-CN" sz="3000"/>
          </a:p>
        </p:txBody>
      </p:sp>
      <p:sp>
        <p:nvSpPr>
          <p:cNvPr id="7" name="Card"/>
          <p:cNvSpPr/>
          <p:nvPr/>
        </p:nvSpPr>
        <p:spPr>
          <a:xfrm>
            <a:off x="658368" y="1874520"/>
            <a:ext cx="5312664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8" name="Card Accent"/>
          <p:cNvSpPr/>
          <p:nvPr/>
        </p:nvSpPr>
        <p:spPr>
          <a:xfrm>
            <a:off x="658368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9" name="Card Title"/>
          <p:cNvSpPr txBox="1"/>
          <p:nvPr/>
        </p:nvSpPr>
        <p:spPr>
          <a:xfrm>
            <a:off x="822960" y="20391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必须完成</a:t>
            </a:r>
            <a:endParaRPr lang="zh-CN" sz="1450"/>
          </a:p>
        </p:txBody>
      </p:sp>
      <p:sp>
        <p:nvSpPr>
          <p:cNvPr id="10" name="Card Body"/>
          <p:cNvSpPr txBox="1"/>
          <p:nvPr/>
        </p:nvSpPr>
        <p:spPr>
          <a:xfrm>
            <a:off x="822960" y="2450592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官网聊天、官网后台、邮箱、展会名片进入统一线索池；AI 接待引导；客户画像评分；国家分发；销售轻反馈；基础报表。</a:t>
            </a:r>
            <a:endParaRPr lang="zh-CN" sz="1080"/>
          </a:p>
        </p:txBody>
      </p:sp>
      <p:sp>
        <p:nvSpPr>
          <p:cNvPr id="11" name="Card"/>
          <p:cNvSpPr/>
          <p:nvPr/>
        </p:nvSpPr>
        <p:spPr>
          <a:xfrm>
            <a:off x="6227064" y="1874520"/>
            <a:ext cx="5312664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7DFEB"/>
            </a:solidFill>
          </a:ln>
        </p:spPr>
      </p:sp>
      <p:sp>
        <p:nvSpPr>
          <p:cNvPr id="12" name="Card Accent"/>
          <p:cNvSpPr/>
          <p:nvPr/>
        </p:nvSpPr>
        <p:spPr>
          <a:xfrm>
            <a:off x="6227064" y="1874520"/>
            <a:ext cx="45720" cy="1874520"/>
          </a:xfrm>
          <a:prstGeom prst="rect">
            <a:avLst/>
          </a:prstGeom>
          <a:solidFill>
            <a:srgbClr val="0F7B8F"/>
          </a:solidFill>
          <a:ln>
            <a:noFill/>
          </a:ln>
        </p:spPr>
      </p:sp>
      <p:sp>
        <p:nvSpPr>
          <p:cNvPr id="13" name="Card Title"/>
          <p:cNvSpPr txBox="1"/>
          <p:nvPr/>
        </p:nvSpPr>
        <p:spPr>
          <a:xfrm>
            <a:off x="6391656" y="2039112"/>
            <a:ext cx="498348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450" b="1" dirty="0">
                <a:solidFill>
                  <a:srgbClr val="162033"/>
                </a:solidFill>
                <a:latin typeface="Microsoft YaHei"/>
                <a:ea typeface="Microsoft YaHei"/>
                <a:cs typeface="Arial"/>
              </a:rPr>
              <a:t>明确后置</a:t>
            </a:r>
            <a:endParaRPr lang="zh-CN" sz="1450"/>
          </a:p>
        </p:txBody>
      </p:sp>
      <p:sp>
        <p:nvSpPr>
          <p:cNvPr id="14" name="Card Body"/>
          <p:cNvSpPr txBox="1"/>
          <p:nvPr/>
        </p:nvSpPr>
        <p:spPr>
          <a:xfrm>
            <a:off x="6391656" y="2450592"/>
            <a:ext cx="4983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08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完整 CRM、金额分析、自动群发、Facebook/LinkedIn 自动抓取、深度态势监测、企业微信深度集成。</a:t>
            </a:r>
            <a:endParaRPr lang="zh-CN" sz="1080"/>
          </a:p>
        </p:txBody>
      </p:sp>
      <p:sp>
        <p:nvSpPr>
          <p:cNvPr id="15" name="Subtitle"/>
          <p:cNvSpPr txBox="1"/>
          <p:nvPr/>
        </p:nvSpPr>
        <p:spPr>
          <a:xfrm>
            <a:off x="658368" y="4187952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>
            <a:normAutofit/>
          </a:bodyPr>
          <a:lstStyle/>
          <a:p>
            <a:pPr algn="l"/>
            <a:r>
              <a:rPr lang="zh-CN" sz="1900" dirty="0">
                <a:solidFill>
                  <a:srgbClr val="607089"/>
                </a:solidFill>
                <a:latin typeface="Microsoft YaHei"/>
                <a:ea typeface="Microsoft YaHei"/>
                <a:cs typeface="Arial"/>
              </a:rPr>
              <a:t>完成这个闭环，后续客户池、再营销和态势监督才有真实数据可用。</a:t>
            </a:r>
            <a:endParaRPr lang="zh-CN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Editable">
  <a:themeElements>
    <a:clrScheme name="Codex">
      <a:dk1>
        <a:srgbClr val="162033"/>
      </a:dk1>
      <a:lt1>
        <a:srgbClr val="FFFFFF"/>
      </a:lt1>
      <a:dk2>
        <a:srgbClr val="224E7A"/>
      </a:dk2>
      <a:lt2>
        <a:srgbClr val="F6F8FB"/>
      </a:lt2>
      <a:accent1>
        <a:srgbClr val="0F7B8F"/>
      </a:accent1>
      <a:accent2>
        <a:srgbClr val="224E7A"/>
      </a:accent2>
      <a:accent3>
        <a:srgbClr val="2F7D5B"/>
      </a:accent3>
      <a:accent4>
        <a:srgbClr val="B45F2A"/>
      </a:accent4>
      <a:accent5>
        <a:srgbClr val="607089"/>
      </a:accent5>
      <a:accent6>
        <a:srgbClr val="D7DFEB"/>
      </a:accent6>
      <a:hlink>
        <a:srgbClr val="0F7B8F"/>
      </a:hlink>
      <a:folHlink>
        <a:srgbClr val="224E7A"/>
      </a:folHlink>
    </a:clrScheme>
    <a:fontScheme name="Codex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Codex">
      <a:fillStyleLst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  <Company>Chison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Ultrasound Sales Agent Report</dc:title>
  <dc:creator>Codex</dc:creator>
  <cp:lastModifiedBy>Codex</cp:lastModifiedBy>
  <dcterms:created xsi:type="dcterms:W3CDTF">2026-06-29T08:06:37Z</dcterms:created>
  <dcterms:modified xsi:type="dcterms:W3CDTF">2026-06-29T08:06:37Z</dcterms:modified>
</cp:coreProperties>
</file>